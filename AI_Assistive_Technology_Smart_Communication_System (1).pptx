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02920" y="502920"/>
            <a:ext cx="530352" cy="530352"/>
          </a:xfrm>
          <a:prstGeom prst="ellipse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ptos Display"/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438912"/>
            <a:ext cx="6400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71C37"/>
                </a:solidFill>
                <a:latin typeface="Aptos Display"/>
              </a:defRPr>
            </a:pPr>
            <a:r>
              <a:t>AI Assistive Technology with Smart Communication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1170432" y="1124712"/>
            <a:ext cx="914400" cy="54864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1508760"/>
            <a:ext cx="4800600" cy="4526280"/>
          </a:xfrm>
          <a:prstGeom prst="roundRect">
            <a:avLst/>
          </a:prstGeom>
          <a:solidFill>
            <a:srgbClr val="F2F8F9"/>
          </a:solidFill>
          <a:ln>
            <a:solidFill>
              <a:srgbClr val="DCE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1605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1800">
                <a:solidFill>
                  <a:srgbClr val="182A3C"/>
                </a:solidFill>
                <a:latin typeface="Aptos"/>
              </a:defRPr>
            </a:pPr>
            <a:r>
              <a:t>•  ESP32-based assistive mobility and communication system</a:t>
            </a:r>
          </a:p>
          <a:p>
            <a:pPr>
              <a:spcAft>
                <a:spcPts val="2200"/>
              </a:spcAft>
              <a:defRPr sz="1800">
                <a:solidFill>
                  <a:srgbClr val="182A3C"/>
                </a:solidFill>
                <a:latin typeface="Aptos"/>
              </a:defRPr>
            </a:pPr>
            <a:r>
              <a:t>•  Voice and hand gestures support independent movement</a:t>
            </a:r>
          </a:p>
          <a:p>
            <a:pPr>
              <a:spcAft>
                <a:spcPts val="2200"/>
              </a:spcAft>
              <a:defRPr sz="1800">
                <a:solidFill>
                  <a:srgbClr val="182A3C"/>
                </a:solidFill>
                <a:latin typeface="Aptos"/>
              </a:defRPr>
            </a:pPr>
            <a:r>
              <a:t>•  Connected hospital ecosystem enables coordinated patient care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0" y="1417320"/>
            <a:ext cx="5806440" cy="4709160"/>
          </a:xfrm>
          <a:prstGeom prst="roundRect">
            <a:avLst/>
          </a:prstGeom>
          <a:solidFill>
            <a:srgbClr val="FFFFFF"/>
          </a:solidFill>
          <a:ln>
            <a:solidFill>
              <a:srgbClr val="D3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slide_1_illust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572768"/>
            <a:ext cx="5440680" cy="43891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E8291"/>
                </a:solidFill>
                <a:latin typeface="Aptos"/>
              </a:defRPr>
            </a:pPr>
            <a:r>
              <a:t>Assistive Healthcare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02920" y="502920"/>
            <a:ext cx="530352" cy="530352"/>
          </a:xfrm>
          <a:prstGeom prst="ellipse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ptos Display"/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438912"/>
            <a:ext cx="6400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71C37"/>
                </a:solidFill>
                <a:latin typeface="Aptos Display"/>
              </a:defRPr>
            </a:pPr>
            <a:r>
              <a:t>Problem Statement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1170432" y="1124712"/>
            <a:ext cx="914400" cy="54864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1508760"/>
            <a:ext cx="4800600" cy="4526280"/>
          </a:xfrm>
          <a:prstGeom prst="roundRect">
            <a:avLst/>
          </a:prstGeom>
          <a:solidFill>
            <a:srgbClr val="F2F8F9"/>
          </a:solidFill>
          <a:ln>
            <a:solidFill>
              <a:srgbClr val="DCE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1605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1800">
                <a:solidFill>
                  <a:srgbClr val="182A3C"/>
                </a:solidFill>
                <a:latin typeface="Aptos"/>
              </a:defRPr>
            </a:pPr>
            <a:r>
              <a:t>•  Paralysed patients face severe mobility limitations</a:t>
            </a:r>
          </a:p>
          <a:p>
            <a:pPr>
              <a:spcAft>
                <a:spcPts val="2200"/>
              </a:spcAft>
              <a:defRPr sz="1800">
                <a:solidFill>
                  <a:srgbClr val="182A3C"/>
                </a:solidFill>
                <a:latin typeface="Aptos"/>
              </a:defRPr>
            </a:pPr>
            <a:r>
              <a:t>•  Communication barriers reduce independence and comfort</a:t>
            </a:r>
          </a:p>
          <a:p>
            <a:pPr>
              <a:spcAft>
                <a:spcPts val="2200"/>
              </a:spcAft>
              <a:defRPr sz="1800">
                <a:solidFill>
                  <a:srgbClr val="182A3C"/>
                </a:solidFill>
                <a:latin typeface="Aptos"/>
              </a:defRPr>
            </a:pPr>
            <a:r>
              <a:t>•  Emergency needs require fast and reliable assistance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0" y="1417320"/>
            <a:ext cx="5806440" cy="4709160"/>
          </a:xfrm>
          <a:prstGeom prst="roundRect">
            <a:avLst/>
          </a:prstGeom>
          <a:solidFill>
            <a:srgbClr val="FFFFFF"/>
          </a:solidFill>
          <a:ln>
            <a:solidFill>
              <a:srgbClr val="D3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slide_2_illust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572768"/>
            <a:ext cx="5440680" cy="43891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E8291"/>
                </a:solidFill>
                <a:latin typeface="Aptos"/>
              </a:defRPr>
            </a:pPr>
            <a:r>
              <a:t>Assistive Healthcare Technology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02920" y="502920"/>
            <a:ext cx="530352" cy="530352"/>
          </a:xfrm>
          <a:prstGeom prst="ellipse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ptos Display"/>
              </a:defRPr>
            </a:pPr>
            <a: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438912"/>
            <a:ext cx="6400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71C37"/>
                </a:solidFill>
                <a:latin typeface="Aptos Display"/>
              </a:defRPr>
            </a:pPr>
            <a:r>
              <a:t>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170432" y="1124712"/>
            <a:ext cx="914400" cy="54864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1508760"/>
            <a:ext cx="4800600" cy="4526280"/>
          </a:xfrm>
          <a:prstGeom prst="roundRect">
            <a:avLst/>
          </a:prstGeom>
          <a:solidFill>
            <a:srgbClr val="F2F8F9"/>
          </a:solidFill>
          <a:ln>
            <a:solidFill>
              <a:srgbClr val="DCE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1605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1800">
                <a:solidFill>
                  <a:srgbClr val="182A3C"/>
                </a:solidFill>
                <a:latin typeface="Aptos"/>
              </a:defRPr>
            </a:pPr>
            <a:r>
              <a:t>•  Enable wheelchair movement through voice and gestures</a:t>
            </a:r>
          </a:p>
          <a:p>
            <a:pPr>
              <a:spcAft>
                <a:spcPts val="2200"/>
              </a:spcAft>
              <a:defRPr sz="1800">
                <a:solidFill>
                  <a:srgbClr val="182A3C"/>
                </a:solidFill>
                <a:latin typeface="Aptos"/>
              </a:defRPr>
            </a:pPr>
            <a:r>
              <a:t>•  Translate hand gestures into spoken patient requests</a:t>
            </a:r>
          </a:p>
          <a:p>
            <a:pPr>
              <a:spcAft>
                <a:spcPts val="2200"/>
              </a:spcAft>
              <a:defRPr sz="1800">
                <a:solidFill>
                  <a:srgbClr val="182A3C"/>
                </a:solidFill>
                <a:latin typeface="Aptos"/>
              </a:defRPr>
            </a:pPr>
            <a:r>
              <a:t>•  Deliver coordinated alerts across hospital dashboards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0" y="1417320"/>
            <a:ext cx="5806440" cy="4709160"/>
          </a:xfrm>
          <a:prstGeom prst="roundRect">
            <a:avLst/>
          </a:prstGeom>
          <a:solidFill>
            <a:srgbClr val="FFFFFF"/>
          </a:solidFill>
          <a:ln>
            <a:solidFill>
              <a:srgbClr val="D3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slide_3_illust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572768"/>
            <a:ext cx="5440680" cy="43891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E8291"/>
                </a:solidFill>
                <a:latin typeface="Aptos"/>
              </a:defRPr>
            </a:pPr>
            <a:r>
              <a:t>Assistive Healthcare Technology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02920" y="502920"/>
            <a:ext cx="530352" cy="530352"/>
          </a:xfrm>
          <a:prstGeom prst="ellipse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ptos Display"/>
              </a:defRPr>
            </a:pPr>
            <a: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438912"/>
            <a:ext cx="6400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71C37"/>
                </a:solidFill>
                <a:latin typeface="Aptos Display"/>
              </a:defRPr>
            </a:pPr>
            <a:r>
              <a:t>Smart Wheelchair</a:t>
            </a:r>
          </a:p>
        </p:txBody>
      </p:sp>
      <p:sp>
        <p:nvSpPr>
          <p:cNvPr id="5" name="Rectangle 4"/>
          <p:cNvSpPr/>
          <p:nvPr/>
        </p:nvSpPr>
        <p:spPr>
          <a:xfrm>
            <a:off x="1170432" y="1124712"/>
            <a:ext cx="914400" cy="54864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1508760"/>
            <a:ext cx="4800600" cy="4526280"/>
          </a:xfrm>
          <a:prstGeom prst="roundRect">
            <a:avLst/>
          </a:prstGeom>
          <a:solidFill>
            <a:srgbClr val="F2F8F9"/>
          </a:solidFill>
          <a:ln>
            <a:solidFill>
              <a:srgbClr val="DCE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1605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1800">
                <a:solidFill>
                  <a:srgbClr val="182A3C"/>
                </a:solidFill>
                <a:latin typeface="Aptos"/>
              </a:defRPr>
            </a:pPr>
            <a:r>
              <a:t>•  Voice commands provide hands-free wheelchair control</a:t>
            </a:r>
          </a:p>
          <a:p>
            <a:pPr>
              <a:spcAft>
                <a:spcPts val="2200"/>
              </a:spcAft>
              <a:defRPr sz="1800">
                <a:solidFill>
                  <a:srgbClr val="182A3C"/>
                </a:solidFill>
                <a:latin typeface="Aptos"/>
              </a:defRPr>
            </a:pPr>
            <a:r>
              <a:t>•  Hand gestures offer alternative movement commands</a:t>
            </a:r>
          </a:p>
          <a:p>
            <a:pPr>
              <a:spcAft>
                <a:spcPts val="2200"/>
              </a:spcAft>
              <a:defRPr sz="1800">
                <a:solidFill>
                  <a:srgbClr val="182A3C"/>
                </a:solidFill>
                <a:latin typeface="Aptos"/>
              </a:defRPr>
            </a:pPr>
            <a:r>
              <a:t>•  Sensors support safe indoor mobility and navigation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0" y="1417320"/>
            <a:ext cx="5806440" cy="4709160"/>
          </a:xfrm>
          <a:prstGeom prst="roundRect">
            <a:avLst/>
          </a:prstGeom>
          <a:solidFill>
            <a:srgbClr val="FFFFFF"/>
          </a:solidFill>
          <a:ln>
            <a:solidFill>
              <a:srgbClr val="D3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slide_5_illust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572768"/>
            <a:ext cx="5440680" cy="43891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E8291"/>
                </a:solidFill>
                <a:latin typeface="Aptos"/>
              </a:defRPr>
            </a:pPr>
            <a:r>
              <a:t>Assistive Healthcare Technology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7ED055E-E5DC-8EAD-AEA8-66701085188C}"/>
              </a:ext>
            </a:extLst>
          </p:cNvPr>
          <p:cNvSpPr txBox="1"/>
          <p:nvPr/>
        </p:nvSpPr>
        <p:spPr>
          <a:xfrm>
            <a:off x="-1002890" y="229091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02920" y="502920"/>
            <a:ext cx="530352" cy="530352"/>
          </a:xfrm>
          <a:prstGeom prst="ellipse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ptos Display"/>
              </a:defRPr>
            </a:pPr>
            <a: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438912"/>
            <a:ext cx="6400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71C37"/>
                </a:solidFill>
                <a:latin typeface="Aptos Display"/>
              </a:defRPr>
            </a:pPr>
            <a:r>
              <a:t>Flex-Sensor Gesture Glove</a:t>
            </a:r>
          </a:p>
        </p:txBody>
      </p:sp>
      <p:sp>
        <p:nvSpPr>
          <p:cNvPr id="5" name="Rectangle 4"/>
          <p:cNvSpPr/>
          <p:nvPr/>
        </p:nvSpPr>
        <p:spPr>
          <a:xfrm>
            <a:off x="1170432" y="1124712"/>
            <a:ext cx="914400" cy="54864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1508760"/>
            <a:ext cx="4800600" cy="4526280"/>
          </a:xfrm>
          <a:prstGeom prst="roundRect">
            <a:avLst/>
          </a:prstGeom>
          <a:solidFill>
            <a:srgbClr val="F2F8F9"/>
          </a:solidFill>
          <a:ln>
            <a:solidFill>
              <a:srgbClr val="DCE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1605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1800">
                <a:solidFill>
                  <a:srgbClr val="182A3C"/>
                </a:solidFill>
                <a:latin typeface="Aptos"/>
              </a:defRPr>
            </a:pPr>
            <a:r>
              <a:t>•  Flex sensors detect individual finger bending</a:t>
            </a:r>
          </a:p>
          <a:p>
            <a:pPr>
              <a:spcAft>
                <a:spcPts val="2200"/>
              </a:spcAft>
              <a:defRPr sz="1800">
                <a:solidFill>
                  <a:srgbClr val="182A3C"/>
                </a:solidFill>
                <a:latin typeface="Aptos"/>
              </a:defRPr>
            </a:pPr>
            <a:r>
              <a:t>•  Gestures map to predefined communication phrases</a:t>
            </a:r>
          </a:p>
          <a:p>
            <a:pPr>
              <a:spcAft>
                <a:spcPts val="2200"/>
              </a:spcAft>
              <a:defRPr sz="1800">
                <a:solidFill>
                  <a:srgbClr val="182A3C"/>
                </a:solidFill>
                <a:latin typeface="Aptos"/>
              </a:defRPr>
            </a:pPr>
            <a:r>
              <a:t>•  Requests appear on screen and speak aloud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0" y="1417320"/>
            <a:ext cx="5806440" cy="4709160"/>
          </a:xfrm>
          <a:prstGeom prst="roundRect">
            <a:avLst/>
          </a:prstGeom>
          <a:solidFill>
            <a:srgbClr val="FFFFFF"/>
          </a:solidFill>
          <a:ln>
            <a:solidFill>
              <a:srgbClr val="D3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slide_6_illust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572768"/>
            <a:ext cx="5440680" cy="43891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E8291"/>
                </a:solidFill>
                <a:latin typeface="Aptos"/>
              </a:defRPr>
            </a:pPr>
            <a:r>
              <a:t>Assistive Healthcare Technology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02920" y="502920"/>
            <a:ext cx="530352" cy="530352"/>
          </a:xfrm>
          <a:prstGeom prst="ellipse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ptos Display"/>
              </a:defRPr>
            </a:pPr>
            <a: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438912"/>
            <a:ext cx="6400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71C37"/>
                </a:solidFill>
                <a:latin typeface="Aptos Display"/>
              </a:defRPr>
            </a:pPr>
            <a:r>
              <a:t>Web App Dashboards</a:t>
            </a:r>
          </a:p>
        </p:txBody>
      </p:sp>
      <p:sp>
        <p:nvSpPr>
          <p:cNvPr id="5" name="Rectangle 4"/>
          <p:cNvSpPr/>
          <p:nvPr/>
        </p:nvSpPr>
        <p:spPr>
          <a:xfrm>
            <a:off x="1170432" y="1124712"/>
            <a:ext cx="914400" cy="54864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1508760"/>
            <a:ext cx="4800600" cy="4526280"/>
          </a:xfrm>
          <a:prstGeom prst="roundRect">
            <a:avLst/>
          </a:prstGeom>
          <a:solidFill>
            <a:srgbClr val="F2F8F9"/>
          </a:solidFill>
          <a:ln>
            <a:solidFill>
              <a:srgbClr val="DCE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1605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1800">
                <a:solidFill>
                  <a:srgbClr val="182A3C"/>
                </a:solidFill>
                <a:latin typeface="Aptos"/>
              </a:defRPr>
            </a:pPr>
            <a:r>
              <a:t>•  Patient dashboard shows requests and system status</a:t>
            </a:r>
          </a:p>
          <a:p>
            <a:pPr>
              <a:spcAft>
                <a:spcPts val="2200"/>
              </a:spcAft>
              <a:defRPr sz="1800">
                <a:solidFill>
                  <a:srgbClr val="182A3C"/>
                </a:solidFill>
                <a:latin typeface="Aptos"/>
              </a:defRPr>
            </a:pPr>
            <a:r>
              <a:t>•  Attender dashboard receives care and emergency updates</a:t>
            </a:r>
          </a:p>
          <a:p>
            <a:pPr>
              <a:spcAft>
                <a:spcPts val="2200"/>
              </a:spcAft>
              <a:defRPr sz="1800">
                <a:solidFill>
                  <a:srgbClr val="182A3C"/>
                </a:solidFill>
                <a:latin typeface="Aptos"/>
              </a:defRPr>
            </a:pPr>
            <a:r>
              <a:t>•  Doctor dashboard monitors clinical events and telemetry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0" y="1417320"/>
            <a:ext cx="5806440" cy="4709160"/>
          </a:xfrm>
          <a:prstGeom prst="roundRect">
            <a:avLst/>
          </a:prstGeom>
          <a:solidFill>
            <a:srgbClr val="FFFFFF"/>
          </a:solidFill>
          <a:ln>
            <a:solidFill>
              <a:srgbClr val="D3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slide_7_illust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572768"/>
            <a:ext cx="5440680" cy="43891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E8291"/>
                </a:solidFill>
                <a:latin typeface="Aptos"/>
              </a:defRPr>
            </a:pPr>
            <a:r>
              <a:t>Assistive Healthcare Technology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02920" y="502920"/>
            <a:ext cx="530352" cy="530352"/>
          </a:xfrm>
          <a:prstGeom prst="ellipse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ptos Display"/>
              </a:defRPr>
            </a:pPr>
            <a: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438912"/>
            <a:ext cx="6400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71C37"/>
                </a:solidFill>
                <a:latin typeface="Aptos Display"/>
              </a:defRPr>
            </a:pPr>
            <a:r>
              <a:t>Emergency &amp; Alert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1170432" y="1124712"/>
            <a:ext cx="914400" cy="54864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1508760"/>
            <a:ext cx="4800600" cy="4526280"/>
          </a:xfrm>
          <a:prstGeom prst="roundRect">
            <a:avLst/>
          </a:prstGeom>
          <a:solidFill>
            <a:srgbClr val="F2F8F9"/>
          </a:solidFill>
          <a:ln>
            <a:solidFill>
              <a:srgbClr val="DCE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1605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1800">
                <a:solidFill>
                  <a:srgbClr val="182A3C"/>
                </a:solidFill>
                <a:latin typeface="Aptos"/>
              </a:defRPr>
            </a:pPr>
            <a:r>
              <a:t>•  Emergency gesture triggers an immediate alert</a:t>
            </a:r>
          </a:p>
          <a:p>
            <a:pPr>
              <a:spcAft>
                <a:spcPts val="2200"/>
              </a:spcAft>
              <a:defRPr sz="1800">
                <a:solidFill>
                  <a:srgbClr val="182A3C"/>
                </a:solidFill>
                <a:latin typeface="Aptos"/>
              </a:defRPr>
            </a:pPr>
            <a:r>
              <a:t>•  Doctors, attenders, and staff receive notifications</a:t>
            </a:r>
          </a:p>
          <a:p>
            <a:pPr>
              <a:spcAft>
                <a:spcPts val="2200"/>
              </a:spcAft>
              <a:defRPr sz="1800">
                <a:solidFill>
                  <a:srgbClr val="182A3C"/>
                </a:solidFill>
                <a:latin typeface="Aptos"/>
              </a:defRPr>
            </a:pPr>
            <a:r>
              <a:t>•  Every event is timestamped and permanently logged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0" y="1417320"/>
            <a:ext cx="5806440" cy="4709160"/>
          </a:xfrm>
          <a:prstGeom prst="roundRect">
            <a:avLst/>
          </a:prstGeom>
          <a:solidFill>
            <a:srgbClr val="FFFFFF"/>
          </a:solidFill>
          <a:ln>
            <a:solidFill>
              <a:srgbClr val="D3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slide_8_illust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572768"/>
            <a:ext cx="5440680" cy="43891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E8291"/>
                </a:solidFill>
                <a:latin typeface="Aptos"/>
              </a:defRPr>
            </a:pPr>
            <a:r>
              <a:t>Assistive Healthcare Technology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02920" y="502920"/>
            <a:ext cx="530352" cy="530352"/>
          </a:xfrm>
          <a:prstGeom prst="ellipse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ptos Display"/>
              </a:defRPr>
            </a:pPr>
            <a: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438912"/>
            <a:ext cx="6400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71C37"/>
                </a:solidFill>
                <a:latin typeface="Aptos Display"/>
              </a:defRPr>
            </a:pPr>
            <a:r>
              <a:t>Safety &amp; Reliability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1170432" y="1124712"/>
            <a:ext cx="914400" cy="54864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1508760"/>
            <a:ext cx="4800600" cy="4526280"/>
          </a:xfrm>
          <a:prstGeom prst="roundRect">
            <a:avLst/>
          </a:prstGeom>
          <a:solidFill>
            <a:srgbClr val="F2F8F9"/>
          </a:solidFill>
          <a:ln>
            <a:solidFill>
              <a:srgbClr val="DCE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1605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1800">
                <a:solidFill>
                  <a:srgbClr val="182A3C"/>
                </a:solidFill>
                <a:latin typeface="Aptos"/>
              </a:defRPr>
            </a:pPr>
            <a:r>
              <a:t>•  Obstacle detection reduces wheelchair collision risk</a:t>
            </a:r>
          </a:p>
          <a:p>
            <a:pPr>
              <a:spcAft>
                <a:spcPts val="2200"/>
              </a:spcAft>
              <a:defRPr sz="1800">
                <a:solidFill>
                  <a:srgbClr val="182A3C"/>
                </a:solidFill>
                <a:latin typeface="Aptos"/>
              </a:defRPr>
            </a:pPr>
            <a:r>
              <a:t>•  Validated gestures prevent unintended command activation</a:t>
            </a:r>
          </a:p>
          <a:p>
            <a:pPr>
              <a:spcAft>
                <a:spcPts val="2200"/>
              </a:spcAft>
              <a:defRPr sz="1800">
                <a:solidFill>
                  <a:srgbClr val="182A3C"/>
                </a:solidFill>
                <a:latin typeface="Aptos"/>
              </a:defRPr>
            </a:pPr>
            <a:r>
              <a:t>•  Continuous monitoring supports reliable hospital operation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0" y="1417320"/>
            <a:ext cx="5806440" cy="4709160"/>
          </a:xfrm>
          <a:prstGeom prst="roundRect">
            <a:avLst/>
          </a:prstGeom>
          <a:solidFill>
            <a:srgbClr val="FFFFFF"/>
          </a:solidFill>
          <a:ln>
            <a:solidFill>
              <a:srgbClr val="D3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slide_9_illust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572768"/>
            <a:ext cx="5440680" cy="43891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E8291"/>
                </a:solidFill>
                <a:latin typeface="Aptos"/>
              </a:defRPr>
            </a:pPr>
            <a:r>
              <a:t>Assistive Healthcare Technology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02920" y="502920"/>
            <a:ext cx="530352" cy="530352"/>
          </a:xfrm>
          <a:prstGeom prst="ellipse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ptos Display"/>
              </a:defRPr>
            </a:pPr>
            <a: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438912"/>
            <a:ext cx="6400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71C37"/>
                </a:solidFill>
                <a:latin typeface="Aptos Display"/>
              </a:defRPr>
            </a:pPr>
            <a:r>
              <a:t>Conclusion &amp; Future Scope</a:t>
            </a:r>
          </a:p>
        </p:txBody>
      </p:sp>
      <p:sp>
        <p:nvSpPr>
          <p:cNvPr id="5" name="Rectangle 4"/>
          <p:cNvSpPr/>
          <p:nvPr/>
        </p:nvSpPr>
        <p:spPr>
          <a:xfrm>
            <a:off x="1170432" y="1124712"/>
            <a:ext cx="914400" cy="54864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1508760"/>
            <a:ext cx="4800600" cy="4526280"/>
          </a:xfrm>
          <a:prstGeom prst="roundRect">
            <a:avLst/>
          </a:prstGeom>
          <a:solidFill>
            <a:srgbClr val="F2F8F9"/>
          </a:solidFill>
          <a:ln>
            <a:solidFill>
              <a:srgbClr val="DCE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1605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1800">
                <a:solidFill>
                  <a:srgbClr val="182A3C"/>
                </a:solidFill>
                <a:latin typeface="Aptos"/>
              </a:defRPr>
            </a:pPr>
            <a:r>
              <a:t>•  Improves patient independence and communication</a:t>
            </a:r>
          </a:p>
          <a:p>
            <a:pPr>
              <a:spcAft>
                <a:spcPts val="2200"/>
              </a:spcAft>
              <a:defRPr sz="1800">
                <a:solidFill>
                  <a:srgbClr val="182A3C"/>
                </a:solidFill>
                <a:latin typeface="Aptos"/>
              </a:defRPr>
            </a:pPr>
            <a:r>
              <a:t>•  Strengthens coordination between patients and caregivers</a:t>
            </a:r>
          </a:p>
          <a:p>
            <a:pPr>
              <a:spcAft>
                <a:spcPts val="2200"/>
              </a:spcAft>
              <a:defRPr sz="1800">
                <a:solidFill>
                  <a:srgbClr val="182A3C"/>
                </a:solidFill>
                <a:latin typeface="Aptos"/>
              </a:defRPr>
            </a:pPr>
            <a:r>
              <a:t>•  Future scope includes AI navigation and IoT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0" y="1417320"/>
            <a:ext cx="5806440" cy="4709160"/>
          </a:xfrm>
          <a:prstGeom prst="roundRect">
            <a:avLst/>
          </a:prstGeom>
          <a:solidFill>
            <a:srgbClr val="FFFFFF"/>
          </a:solidFill>
          <a:ln>
            <a:solidFill>
              <a:srgbClr val="D3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slide_10_illust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572768"/>
            <a:ext cx="5440680" cy="43891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E8291"/>
                </a:solidFill>
                <a:latin typeface="Aptos"/>
              </a:defRPr>
            </a:pPr>
            <a:r>
              <a:t>Assistive Healthcare Technology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267</Words>
  <Application>Microsoft Office PowerPoint</Application>
  <PresentationFormat>Widescreen</PresentationFormat>
  <Paragraphs>54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Vikash J</cp:lastModifiedBy>
  <cp:revision>2</cp:revision>
  <dcterms:created xsi:type="dcterms:W3CDTF">2013-01-27T09:14:16Z</dcterms:created>
  <dcterms:modified xsi:type="dcterms:W3CDTF">2026-10-20T07:43:01Z</dcterms:modified>
  <cp:category/>
</cp:coreProperties>
</file>